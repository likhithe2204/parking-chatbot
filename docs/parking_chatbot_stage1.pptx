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chatbot for a parking facility. It answers questions from real data, collects reservations, and keeps private data private.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 row by row. Every requirement of Stage 1 has a working feature and proof on a later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Follow the flow left to right: guardrail, agent, tools, data stores, reply. Grey boxes are the later stages.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Static data goes to the vector database, dynamic data to SQL.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location, price, availability, then the follow-up 'And Zone A?'.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at the rejected car number ABC, then the summary and the final message.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five inputs, then the output guard on the leaked reply.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Recall says the right documents were found. MRR says how high the best one ranks. Precision is lower only because each document has few chunks.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Left: pytest result. Right: the green pipeline run on every push.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the three outcomes, the roadmap and the repository link.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Parking Space Reservation Chatbot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918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C9D6EA"/>
                </a:solidFill>
                <a:latin typeface="Calibri"/>
              </a:rPr>
              <a:t>Stage 1 of 4: RAG chatbot, guardrails and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937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Edupuganti Likhith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3949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6EA"/>
                </a:solidFill>
                <a:latin typeface="Calibri"/>
              </a:rPr>
              <a:t>github.com/likhithe2204/parking-chatbot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Calibri"/>
              </a:rPr>
              <a:t>What the task asked and what was delivered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54B57"/>
                </a:solidFill>
                <a:latin typeface="Calibri"/>
              </a:rPr>
              <a:t>Parking Reservation Chatbot  |  Stage 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109960" cy="4608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6309360"/>
                <a:gridCol w="1508760"/>
              </a:tblGrid>
              <a:tr h="51206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Requirement</a:t>
                      </a:r>
                    </a:p>
                  </a:txBody>
                  <a:tcPr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What was built</a:t>
                      </a:r>
                    </a:p>
                  </a:txBody>
                  <a:tcPr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Proof</a:t>
                      </a:r>
                    </a:p>
                  </a:txBody>
                  <a:tcPr anchor="ctr">
                    <a:solidFill>
                      <a:srgbClr val="1F2A44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54B57"/>
                          </a:solidFill>
                          <a:latin typeface="Calibri"/>
                        </a:rPr>
                        <a:t>RAG architecture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54B57"/>
                          </a:solidFill>
                          <a:latin typeface="Calibri"/>
                        </a:rPr>
                        <a:t>Retrieve 3 chunks, answer only from them with GPT (EPAM DIAL)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54B57"/>
                          </a:solidFill>
                          <a:latin typeface="Calibri"/>
                        </a:rPr>
                        <a:t>Slides 3 and 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54B57"/>
                          </a:solidFill>
                          <a:latin typeface="Calibri"/>
                        </a:rPr>
                        <a:t>Vector database</a:t>
                      </a:r>
                    </a:p>
                  </a:txBody>
                  <a:tcPr anchor="ctr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54B57"/>
                          </a:solidFill>
                          <a:latin typeface="Calibri"/>
                        </a:rPr>
                        <a:t>Chroma with all-MiniLM-L6-v2 embeddings</a:t>
                      </a:r>
                    </a:p>
                  </a:txBody>
                  <a:tcPr anchor="ctr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54B57"/>
                          </a:solidFill>
                          <a:latin typeface="Calibri"/>
                        </a:rPr>
                        <a:t>Slide 4</a:t>
                      </a:r>
                    </a:p>
                  </a:txBody>
                  <a:tcPr anchor="ctr">
                    <a:solidFill>
                      <a:srgbClr val="F1F4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54B57"/>
                          </a:solidFill>
                          <a:latin typeface="Calibri"/>
                        </a:rPr>
                        <a:t>Static and dynamic data split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54B57"/>
                          </a:solidFill>
                          <a:latin typeface="Calibri"/>
                        </a:rPr>
                        <a:t>Static data in Chroma, live data in SQLite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54B57"/>
                          </a:solidFill>
                          <a:latin typeface="Calibri"/>
                        </a:rPr>
                        <a:t>Slide 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54B57"/>
                          </a:solidFill>
                          <a:latin typeface="Calibri"/>
                        </a:rPr>
                        <a:t>Provide information</a:t>
                      </a:r>
                    </a:p>
                  </a:txBody>
                  <a:tcPr anchor="ctr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54B57"/>
                          </a:solidFill>
                          <a:latin typeface="Calibri"/>
                        </a:rPr>
                        <a:t>Agent chooses vector search or SQL tools</a:t>
                      </a:r>
                    </a:p>
                  </a:txBody>
                  <a:tcPr anchor="ctr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54B57"/>
                          </a:solidFill>
                          <a:latin typeface="Calibri"/>
                        </a:rPr>
                        <a:t>Slide 5</a:t>
                      </a:r>
                    </a:p>
                  </a:txBody>
                  <a:tcPr anchor="ctr">
                    <a:solidFill>
                      <a:srgbClr val="F1F4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54B57"/>
                          </a:solidFill>
                          <a:latin typeface="Calibri"/>
                        </a:rPr>
                        <a:t>Collect reservation inputs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54B57"/>
                          </a:solidFill>
                          <a:latin typeface="Calibri"/>
                        </a:rPr>
                        <a:t>One field at a time, each answer validated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54B57"/>
                          </a:solidFill>
                          <a:latin typeface="Calibri"/>
                        </a:rPr>
                        <a:t>Slide 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54B57"/>
                          </a:solidFill>
                          <a:latin typeface="Calibri"/>
                        </a:rPr>
                        <a:t>Guardrails with NLP models</a:t>
                      </a:r>
                    </a:p>
                  </a:txBody>
                  <a:tcPr anchor="ctr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54B57"/>
                          </a:solidFill>
                          <a:latin typeface="Calibri"/>
                        </a:rPr>
                        <a:t>Presidio and spaCy mask private data, block injection</a:t>
                      </a:r>
                    </a:p>
                  </a:txBody>
                  <a:tcPr anchor="ctr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54B57"/>
                          </a:solidFill>
                          <a:latin typeface="Calibri"/>
                        </a:rPr>
                        <a:t>Slide 7</a:t>
                      </a:r>
                    </a:p>
                  </a:txBody>
                  <a:tcPr anchor="ctr">
                    <a:solidFill>
                      <a:srgbClr val="F1F4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54B57"/>
                          </a:solidFill>
                          <a:latin typeface="Calibri"/>
                        </a:rPr>
                        <a:t>Evaluation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54B57"/>
                          </a:solidFill>
                          <a:latin typeface="Calibri"/>
                        </a:rPr>
                        <a:t>Recall@K, Precision@K, MRR, accuracy and latency report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54B57"/>
                          </a:solidFill>
                          <a:latin typeface="Calibri"/>
                        </a:rPr>
                        <a:t>Slide 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54B57"/>
                          </a:solidFill>
                          <a:latin typeface="Calibri"/>
                        </a:rPr>
                        <a:t>Extra artifacts</a:t>
                      </a:r>
                    </a:p>
                  </a:txBody>
                  <a:tcPr anchor="ctr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54B57"/>
                          </a:solidFill>
                          <a:latin typeface="Calibri"/>
                        </a:rPr>
                        <a:t>README, 68 pytest tests, GitHub Actions CI, this deck</a:t>
                      </a:r>
                    </a:p>
                  </a:txBody>
                  <a:tcPr anchor="ctr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54B57"/>
                          </a:solidFill>
                          <a:latin typeface="Calibri"/>
                        </a:rPr>
                        <a:t>Slide 9</a:t>
                      </a:r>
                    </a:p>
                  </a:txBody>
                  <a:tcPr anchor="ctr">
                    <a:solidFill>
                      <a:srgbClr val="F1F4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Calibri"/>
              </a:rPr>
              <a:t>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54B57"/>
                </a:solidFill>
                <a:latin typeface="Calibri"/>
              </a:rPr>
              <a:t>Parking Reservation Chatbot  |  Stage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109960" cy="4937760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4307" y="1435608"/>
            <a:ext cx="8378624" cy="471830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Calibri"/>
              </a:rPr>
              <a:t>RAG with a vector database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54B57"/>
                </a:solidFill>
                <a:latin typeface="Calibri"/>
              </a:rPr>
              <a:t>Parking Reservation Chatbot  |  Stage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3931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454B57"/>
                </a:solidFill>
                <a:latin typeface="Calibri"/>
              </a:rPr>
              <a:t>•  Static data (info, zones, location, booking rules) is chunked and embedded.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454B57"/>
                </a:solidFill>
                <a:latin typeface="Calibri"/>
              </a:rPr>
              <a:t>•  Chunks live in Chroma. A question retrieves the 3 closest.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454B57"/>
                </a:solidFill>
                <a:latin typeface="Calibri"/>
              </a:rPr>
              <a:t>•  Live data (hours, prices, free spaces) lives in SQL, because it changes often.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1371600"/>
            <a:ext cx="6903720" cy="4846320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_inges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4608" y="2561927"/>
            <a:ext cx="6684264" cy="24656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Calibri"/>
              </a:rPr>
              <a:t>Providing information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54B57"/>
                </a:solidFill>
                <a:latin typeface="Calibri"/>
              </a:rPr>
              <a:t>Parking Reservation Chatbot  |  Stage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3931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454B57"/>
                </a:solidFill>
                <a:latin typeface="Calibri"/>
              </a:rPr>
              <a:t>•  The agent picks a tool for each question.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454B57"/>
                </a:solidFill>
                <a:latin typeface="Calibri"/>
              </a:rPr>
              <a:t>•  Prices and availability always come from SQL, never from model memory.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454B57"/>
                </a:solidFill>
                <a:latin typeface="Calibri"/>
              </a:rPr>
              <a:t>•  Follow-up questions work. Off-topic questions are politely refused.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1371600"/>
            <a:ext cx="6903720" cy="4846320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2_chat_inf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7380" y="1481328"/>
            <a:ext cx="6618719" cy="46268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Calibri"/>
              </a:rPr>
              <a:t>Collecting a reservation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54B57"/>
                </a:solidFill>
                <a:latin typeface="Calibri"/>
              </a:rPr>
              <a:t>Parking Reservation Chatbot  |  Stage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3931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454B57"/>
                </a:solidFill>
                <a:latin typeface="Calibri"/>
              </a:rPr>
              <a:t>•  Asks for name, car number, start and end, one field at a time.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454B57"/>
                </a:solidFill>
                <a:latin typeface="Calibri"/>
              </a:rPr>
              <a:t>•  Each answer is validated at once, for example a car number like TS09AB1234.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454B57"/>
                </a:solidFill>
                <a:latin typeface="Calibri"/>
              </a:rPr>
              <a:t>•  Summary and confirmation come first. The bot never says 'confirmed'; the administrator decides in Stage 2.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1371600"/>
            <a:ext cx="6903720" cy="4846320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_reservation_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4608" y="1644289"/>
            <a:ext cx="6684264" cy="43009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Calibri"/>
              </a:rPr>
              <a:t>Guardrails: data protection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54B57"/>
                </a:solidFill>
                <a:latin typeface="Calibri"/>
              </a:rPr>
              <a:t>Parking Reservation Chatbot  |  Stage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3931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454B57"/>
                </a:solidFill>
                <a:latin typeface="Calibri"/>
              </a:rPr>
              <a:t>•  Presidio with a spaCy model masks emails, phones and card numbers.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454B57"/>
                </a:solidFill>
                <a:latin typeface="Calibri"/>
              </a:rPr>
              <a:t>•  Prompt injection is blocked before it reaches the model.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454B57"/>
                </a:solidFill>
                <a:latin typeface="Calibri"/>
              </a:rPr>
              <a:t>•  The same masking runs on replies, so leaked details are blurred.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1371600"/>
            <a:ext cx="6903720" cy="4846320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4_guardr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4608" y="1778569"/>
            <a:ext cx="6684264" cy="40323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Calibri"/>
              </a:rPr>
              <a:t>Evaluation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54B57"/>
                </a:solidFill>
                <a:latin typeface="Calibri"/>
              </a:rPr>
              <a:t>Parking Reservation Chatbot  |  Stage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965960" cy="1234440"/>
          </a:xfrm>
          <a:prstGeom prst="roundRect">
            <a:avLst/>
          </a:prstGeom>
          <a:solidFill>
            <a:srgbClr val="F1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1965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2B6CB0"/>
                </a:solidFill>
                <a:latin typeface="Calibri"/>
              </a:rPr>
              <a:t>1.00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84832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54B57"/>
                </a:solidFill>
                <a:latin typeface="Calibri"/>
              </a:rPr>
              <a:t>Recall@3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97480" y="1371600"/>
            <a:ext cx="1965960" cy="1234440"/>
          </a:xfrm>
          <a:prstGeom prst="roundRect">
            <a:avLst/>
          </a:prstGeom>
          <a:solidFill>
            <a:srgbClr val="F1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97480" y="1481328"/>
            <a:ext cx="1965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2B6CB0"/>
                </a:solidFill>
                <a:latin typeface="Calibri"/>
              </a:rPr>
              <a:t>0.95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2084832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54B57"/>
                </a:solidFill>
                <a:latin typeface="Calibri"/>
              </a:rPr>
              <a:t>MRR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788920"/>
            <a:ext cx="1965960" cy="1234440"/>
          </a:xfrm>
          <a:prstGeom prst="roundRect">
            <a:avLst/>
          </a:prstGeom>
          <a:solidFill>
            <a:srgbClr val="F1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898648"/>
            <a:ext cx="1965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2B6CB0"/>
                </a:solidFill>
                <a:latin typeface="Calibri"/>
              </a:rPr>
              <a:t>16 / 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502152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54B57"/>
                </a:solidFill>
                <a:latin typeface="Calibri"/>
              </a:rPr>
              <a:t>Answer checks passed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97480" y="2788920"/>
            <a:ext cx="1965960" cy="1234440"/>
          </a:xfrm>
          <a:prstGeom prst="roundRect">
            <a:avLst/>
          </a:prstGeom>
          <a:solidFill>
            <a:srgbClr val="F1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97480" y="2898648"/>
            <a:ext cx="1965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2B6CB0"/>
                </a:solidFill>
                <a:latin typeface="Calibri"/>
              </a:rPr>
              <a:t>~6 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80" y="3502152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54B57"/>
                </a:solidFill>
                <a:latin typeface="Calibri"/>
              </a:rPr>
              <a:t>Full reply (mostly LLM)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29768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>
                <a:solidFill>
                  <a:srgbClr val="454B57"/>
                </a:solidFill>
                <a:latin typeface="Calibri"/>
              </a:rPr>
              <a:t>•  Precision@3 is 0.44: few chunks per document.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454B57"/>
                </a:solidFill>
                <a:latin typeface="Calibri"/>
              </a:rPr>
              <a:t>•  Retrieval takes about 8 ms, SQL 0.2 ms.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0" y="1371600"/>
            <a:ext cx="6903720" cy="4846320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05_evalu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4608" y="1777437"/>
            <a:ext cx="6684263" cy="403464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Calibri"/>
              </a:rPr>
              <a:t>Tests, CI/CD and documentation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54B57"/>
                </a:solidFill>
                <a:latin typeface="Calibri"/>
              </a:rPr>
              <a:t>Parking Reservation Chatbot  |  Stage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454B57"/>
                </a:solidFill>
                <a:latin typeface="Calibri"/>
              </a:rPr>
              <a:t>•  68 pytest tests, at least 2 per core module, no API key needed.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454B57"/>
                </a:solidFill>
                <a:latin typeface="Calibri"/>
              </a:rPr>
              <a:t>•  GitHub Actions runs them on every push. README documents setup, usage and structure.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468880"/>
            <a:ext cx="5486400" cy="3840480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6a_tests_pass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934364"/>
            <a:ext cx="5266944" cy="290951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172200" y="2468880"/>
            <a:ext cx="5486400" cy="3840480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6b_ci_pipe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1928" y="3321496"/>
            <a:ext cx="5266944" cy="213524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Calibri"/>
              </a:rPr>
              <a:t>Outcomes and next stages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54B57"/>
                </a:solidFill>
                <a:latin typeface="Calibri"/>
              </a:rPr>
              <a:t>Parking Reservation Chatbot  |  Stage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454B57"/>
                </a:solidFill>
                <a:latin typeface="Calibri"/>
              </a:rPr>
              <a:t>•  Working chatbot that informs users and collects reservations.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454B57"/>
                </a:solidFill>
                <a:latin typeface="Calibri"/>
              </a:rPr>
              <a:t>•  Data protection on input and output.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454B57"/>
                </a:solidFill>
                <a:latin typeface="Calibri"/>
              </a:rPr>
              <a:t>•  Evaluation report with Recall@K, Precision@K, MRR and latency.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454B57"/>
                </a:solidFill>
                <a:latin typeface="Calibri"/>
              </a:rPr>
              <a:t>•  Next: Stage 2 administrator agent, Stage 3 MCP server, Stage 4 LangGraph orchestration.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454B57"/>
                </a:solidFill>
                <a:latin typeface="Calibri"/>
              </a:rPr>
              <a:t>•  Repository: github.com/likhithe2204/parking-chatbot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